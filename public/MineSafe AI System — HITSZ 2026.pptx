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4114800"/>
          </a:xfrm>
          <a:prstGeom prst="rect">
            <a:avLst/>
          </a:prstGeom>
          <a:solidFill>
            <a:srgbClr val="0E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AI FOR SUSTAINABLE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1F5F9"/>
                </a:solidFill>
              </a:rPr>
              <a:t>MineSafe AI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AI-Driven Mining Safety &amp; Sustainability Command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1828800" cy="12700"/>
          </a:xfrm>
          <a:prstGeom prst="rect">
            <a:avLst/>
          </a:prstGeom>
          <a:noFill/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Harbin Institute of Technology, Shenzhen (HITSZ)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2194560" cy="384048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Harta Deddy Irawan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429000"/>
            <a:ext cx="2194560" cy="384048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474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Sashi Kumar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429000"/>
            <a:ext cx="2194560" cy="384048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474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Isabella Gbefa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429000"/>
            <a:ext cx="2194560" cy="384048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474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Shania Clauren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</a:rPr>
              <a:t>Live Dashboard: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https://minesafe.iraw.one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F5F9"/>
                </a:solidFill>
              </a:rPr>
              <a:t>Meet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AI for Sustainable Development — HITSZ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" y="1691640"/>
            <a:ext cx="2606040" cy="3291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8348" y="1691640"/>
            <a:ext cx="26060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8448" y="1965960"/>
            <a:ext cx="1005840" cy="10058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240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" y="3154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Harta Deddy Irawan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" y="356615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Lead Developer &amp; System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1691640"/>
            <a:ext cx="2606040" cy="3291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0420" y="1691640"/>
            <a:ext cx="260604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65960"/>
            <a:ext cx="1005840" cy="10058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240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1860" y="3154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Sashi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1860" y="356615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Worker Health &amp; Medical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2" y="1691640"/>
            <a:ext cx="2606040" cy="3291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2" y="1691640"/>
            <a:ext cx="260604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2" y="196596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2240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3154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Isabella Gbefa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356615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Health and Safety, ESG Officer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4564" y="1691640"/>
            <a:ext cx="2606040" cy="3291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4564" y="1691640"/>
            <a:ext cx="260604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4664" y="196596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4664" y="2240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004" y="31546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Shania Clauren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6004" y="356615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Finance &amp; Business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51663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HITSZ — Harbin Institute of Technology, Shenzhen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The Mining Safety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Why AI is essential — and why mining is the right environment to demonstrate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12700"/>
          </a:xfrm>
          <a:prstGeom prst="rect">
            <a:avLst/>
          </a:prstGeom>
          <a:noFill/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Mining employs 1% of workers yet contributes a disproportionate share of fatal work accidents (ILO, 2023)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Workers face simultaneous exposure: gas, heat, dust, noise, slope instability, and fatigue in one shift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Safety data is fragmented across sensors, wearables, vehicles, equipment, and drones — all disconnected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Environmental incidents cost $6B+ annually in fines, remediation, and reputational damage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ESG disclosure mandatory in 60+ jurisdictions; investors demand verified sustainability data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Mining is an ideal environment to demonstrate AI for safety and sustainable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685800"/>
            <a:ext cx="5577840" cy="14173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685800"/>
            <a:ext cx="557784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85039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5,000+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Estimated mining fatalities / year (ILO,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43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475569"/>
                </a:solidFill>
              </a:rPr>
              <a:t>Sources: ILO — Safety and Health at Work Statistics (2023)  ·  ICMM — Safety Performance Benchmarking (2024)  ·  Deloitte — Tracking the Trends 2024: Mining &amp; Metals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The Problem We Want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One question drives the entire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303520" cy="822960"/>
          </a:xfrm>
          <a:prstGeom prst="rect">
            <a:avLst/>
          </a:prstGeom>
          <a:solidFill>
            <a:srgbClr val="0F1E3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64792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1F5F9"/>
                </a:solidFill>
              </a:rPr>
              <a:t>"How can mining operations detect and prevent safety, health, and environmental risks before they become incidents?"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Mining risks are dynamic and distributed across hundreds of separate data sources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Safety data is fragmented: sensors, workers, vehicles, equipment, drones, and environment are all disconnected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Traditional safety monitoring is reactive — operators learn about incidents after they happen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Operators need early warning, explainable risk predictions, and recommended actions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The goal is prevention, not only incident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685800"/>
            <a:ext cx="5577840" cy="14173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685800"/>
            <a:ext cx="557784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5039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Of mining incidents are preventable with earlier intervention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5577840" cy="6400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587752"/>
            <a:ext cx="64008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146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Detect risk early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577840" cy="6400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364992"/>
            <a:ext cx="64008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2918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Explain the 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577840" cy="6400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142232"/>
            <a:ext cx="64008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6908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Recommend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63440"/>
            <a:ext cx="5577840" cy="6400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919472"/>
            <a:ext cx="64008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84632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Prevent the incident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685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From Reactive Monitoring to Predictive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</a:rPr>
              <a:t>How MineSafe changes the operational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120640" cy="3840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12064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OLD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Separate, disconnected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Manual inspection and site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Periodic safety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941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Delayed response after an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Compliance reviewed after the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✗  Reactive incident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5120640" cy="3840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51206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MINESAFE 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Continuous multi-source sensing across all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3347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AI risk prediction with 24-hour horizon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6382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Explainable alerts with confidence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941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Real-time command center for all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245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Human-in-the-loop 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548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✓  Prevention-focused recommended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5669280"/>
            <a:ext cx="4114800" cy="1005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5669280"/>
            <a:ext cx="41148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583387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6446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Maximum prediction confidence — gas risk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85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What Problem MineSafe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</a:rPr>
              <a:t>Connecting fragmented mining safety intelligence into one command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480560" cy="411480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</a:rPr>
              <a:t>CONNECTS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Gas &amp; environmental sensors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05456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Worker health wearables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53512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Drones &amp; visual inspection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01568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4728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Fleet GPS &amp; driver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849624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9534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Equipment telemetry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297680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Noise exposure dosimeters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745736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Sustainability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193792"/>
            <a:ext cx="4206240" cy="347472"/>
          </a:xfrm>
          <a:prstGeom prst="rect">
            <a:avLst/>
          </a:prstGeom>
          <a:solidFill>
            <a:srgbClr val="1A2A45"/>
          </a:solidFill>
          <a:ln w="9525">
            <a:solidFill>
              <a:srgbClr val="2A4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39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Incident response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1645920"/>
            <a:ext cx="4480560" cy="411480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7373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</a:rPr>
              <a:t>OUTPUTS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205740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121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Early warning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65176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71576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24-hour risk forecast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324612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31012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AI confidence scoring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84048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9044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Explainable AI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443484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4988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Ranked recommended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5029200"/>
            <a:ext cx="4206240" cy="457200"/>
          </a:xfrm>
          <a:prstGeom prst="rect">
            <a:avLst/>
          </a:prstGeom>
          <a:solidFill>
            <a:srgbClr val="0D221A"/>
          </a:solidFill>
          <a:ln w="9525">
            <a:solidFill>
              <a:srgbClr val="1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50932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ESG &amp; operational visibility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5897880"/>
            <a:ext cx="4114800" cy="777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3360" y="5897880"/>
            <a:ext cx="41148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606247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6675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Safety domains connected in one command center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AI Agents in the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Five autonomous agents — one unified safety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▸  Goal-driven programs that perceive, reason, and act without continuous human input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▸  Each agent monitors its domain, generates predictions with confidence scores, and triggers action workflows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▸  Agents collaborate: a gas spike from Agent 1 automatically informs Agent 5 to pre-calculate evacuation routes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▸  Every decision is explainable — reading, status, confidence %, and recommended action are shown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5029200" cy="1005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6850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Autonomous AI Agents operating across the 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486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</a:rPr>
              <a:t>LIVE AGENT ACTIVATIONS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896112"/>
            <a:ext cx="5852160" cy="9601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896112"/>
            <a:ext cx="50292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9692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Gas Safety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Watches GS-11 CH4 8.4 ppm at Zone 8. Predicts threshold breach within 2 hours. Recommends evacuation + vent…</a:t>
            </a:r>
          </a:p>
        </p:txBody>
      </p:sp>
      <p:sp>
        <p:nvSpPr>
          <p:cNvPr id="16" name="Oval 15"/>
          <p:cNvSpPr/>
          <p:nvPr/>
        </p:nvSpPr>
        <p:spPr>
          <a:xfrm>
            <a:off x="11521440" y="128016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993392"/>
            <a:ext cx="5852160" cy="9601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993392"/>
            <a:ext cx="50292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Worker Welfare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Flags W004 heat stress (fatigue 78) and W010 fall detected (no movement 90s). Dispatches rescue team.</a:t>
            </a:r>
          </a:p>
        </p:txBody>
      </p:sp>
      <p:sp>
        <p:nvSpPr>
          <p:cNvPr id="21" name="Oval 20"/>
          <p:cNvSpPr/>
          <p:nvPr/>
        </p:nvSpPr>
        <p:spPr>
          <a:xfrm>
            <a:off x="11521440" y="23774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090672"/>
            <a:ext cx="5852160" cy="9601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3090672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1638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Equipment Maintenance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474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EQ08 engine temp 103C — 10h before maintenance due. Predicts failure, schedules emergency stop.</a:t>
            </a:r>
          </a:p>
        </p:txBody>
      </p:sp>
      <p:sp>
        <p:nvSpPr>
          <p:cNvPr id="26" name="Oval 25"/>
          <p:cNvSpPr/>
          <p:nvPr/>
        </p:nvSpPr>
        <p:spPr>
          <a:xfrm>
            <a:off x="11521440" y="34747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187952"/>
            <a:ext cx="5852160" cy="9601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187952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2611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Drone Commander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72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Eagle-2 detects slope crack on Zone B north face (conf. 84%). Redirects Eagle-1 for confirmation pass.</a:t>
            </a:r>
          </a:p>
        </p:txBody>
      </p:sp>
      <p:sp>
        <p:nvSpPr>
          <p:cNvPr id="31" name="Oval 30"/>
          <p:cNvSpPr/>
          <p:nvPr/>
        </p:nvSpPr>
        <p:spPr>
          <a:xfrm>
            <a:off x="11521440" y="45720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5285232"/>
            <a:ext cx="5852160" cy="9601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285232"/>
            <a:ext cx="5029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3583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Environmental Compliance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Monitors GS-08 PM2.5 58.4 ug/m3 and tailings seepage risk. Auto-notifies regulator on threshold breach.</a:t>
            </a:r>
          </a:p>
        </p:txBody>
      </p:sp>
      <p:sp>
        <p:nvSpPr>
          <p:cNvPr id="36" name="Oval 35"/>
          <p:cNvSpPr/>
          <p:nvPr/>
        </p:nvSpPr>
        <p:spPr>
          <a:xfrm>
            <a:off x="11521440" y="56692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Connection to AIESD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Applying AI for Sustainable Development principles to a real industrial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MineSafe applies AIESD learning by turning AI ethics and sustainable development principles into a practical safety technology concept.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5029200" cy="10058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02920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91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</a:rPr>
              <a:t>AIESD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AI for Sustainable Development — HITSZ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4864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</a:rPr>
              <a:t>AIESD PRINCIPLES 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896112"/>
            <a:ext cx="2857500" cy="105156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896112"/>
            <a:ext cx="4114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987552"/>
            <a:ext cx="26929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</a:rPr>
              <a:t>🧑‍💼  Human-centered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1316736"/>
            <a:ext cx="26929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AI supports supervisors and safety teams instead of replacing them. Every decision stays with a qualified operator.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0828" y="896112"/>
            <a:ext cx="2857500" cy="105156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0828" y="896112"/>
            <a:ext cx="4114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8844" y="987552"/>
            <a:ext cx="26929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</a:rPr>
              <a:t>🔍  Explainable AI (XAI)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8844" y="1316736"/>
            <a:ext cx="26929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Each prediction shows why it was triggered — factors, confidence score, data sources, and data quality.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057400"/>
            <a:ext cx="2857500" cy="105156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2057400"/>
            <a:ext cx="4114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148840"/>
            <a:ext cx="26929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</a:rPr>
              <a:t>⚖️  Responsible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478024"/>
            <a:ext cx="26929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Confidence scores and data quality are always visible. No recommendation is issued without a clear reasoning chain.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0828" y="2057400"/>
            <a:ext cx="2857500" cy="105156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0828" y="2057400"/>
            <a:ext cx="4114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8844" y="2148840"/>
            <a:ext cx="26929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</a:rPr>
              <a:t>🌍  Sustainable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8844" y="2478024"/>
            <a:ext cx="26929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Worker safety, environmental monitoring, ESG indicators, and prevention of long-term occupational harm.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218688"/>
            <a:ext cx="2857500" cy="105156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218688"/>
            <a:ext cx="4114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1616" y="3310128"/>
            <a:ext cx="26929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F5F9"/>
                </a:solidFill>
              </a:rPr>
              <a:t>🏭  Practical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3639312"/>
            <a:ext cx="26929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Designed to demonstrate how AI can be deployed in real industrial environments with existing IoT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858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Lessons from Industry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430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</a:rPr>
              <a:t>How each company visit shaped MineSafe's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2178100" cy="4206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1781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64208"/>
            <a:ext cx="1995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</a:rPr>
              <a:t>Chipsea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56816"/>
            <a:ext cx="1995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Smart IoT Chips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230428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1401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75569"/>
                </a:solidFill>
              </a:rPr>
              <a:t>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96896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Edge sensing and low-power chips enable continuous real-world monitoring at scale.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358444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69417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</a:rPr>
              <a:t>MINESAFE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04488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Gas sensors, noise sensors, environmental nodes, and equipment telemetry.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2732" y="1572768"/>
            <a:ext cx="2178100" cy="4206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2732" y="1572768"/>
            <a:ext cx="21781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2460" y="1664208"/>
            <a:ext cx="1995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Mindray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2460" y="1956816"/>
            <a:ext cx="1995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Medical &amp; Health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72460" y="230428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4172" y="241401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75569"/>
                </a:solidFill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4172" y="2596896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Reliable vital-sign monitoring supports timely safety decisions in demanding environments.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2460" y="358444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54172" y="369417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</a:rPr>
              <a:t>MINESAFE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4172" y="3904488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Worker heart rate, SpO2, body temp, fatigue, and heat stress monitoring.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5425" y="1572768"/>
            <a:ext cx="2178100" cy="4206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5425" y="1572768"/>
            <a:ext cx="21781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5153" y="1664208"/>
            <a:ext cx="1995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BYD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5153" y="1956816"/>
            <a:ext cx="1995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Intelligent Vehicles &amp; Energy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15153" y="230428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865" y="241401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75569"/>
                </a:solidFill>
              </a:rPr>
              <a:t>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6865" y="2596896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Intelligent vehicles, batteries, and industrial-scale energy systems transform operations.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15153" y="358444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6865" y="369417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</a:rPr>
              <a:t>MINESAFE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6865" y="3904488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Fleet telemetry, vehicle status, driver risk, battery/fuel monitoring.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48118" y="1572768"/>
            <a:ext cx="2178100" cy="4206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48118" y="1572768"/>
            <a:ext cx="21781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7846" y="1664208"/>
            <a:ext cx="1995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</a:rPr>
              <a:t>Dobot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7846" y="1956816"/>
            <a:ext cx="1995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Robotics &amp; Automation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7846" y="230428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9558" y="241401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75569"/>
                </a:solidFill>
              </a:rPr>
              <a:t>LESSON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9558" y="2596896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Robotics automates inspection and reduces human exposure to hazardous environments.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7846" y="358444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9558" y="369417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</a:rPr>
              <a:t>MINESAFE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9558" y="3904488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Drone inspection, robotic inspection concept, and remote hazard detection.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0811" y="1572768"/>
            <a:ext cx="2178100" cy="420624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0811" y="1572768"/>
            <a:ext cx="21781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00539" y="1664208"/>
            <a:ext cx="1995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Fengnong Holdings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00539" y="1956816"/>
            <a:ext cx="19952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569"/>
                </a:solidFill>
              </a:rPr>
              <a:t>Digital Agriculture &amp; Sustainability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00539" y="230428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2251" y="241401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75569"/>
                </a:solidFill>
              </a:rPr>
              <a:t>LESSON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2251" y="2596896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Digital technology supports sustainable operations, environmental control, and resource efficiency.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00539" y="3584448"/>
            <a:ext cx="1958644" cy="12700"/>
          </a:xfrm>
          <a:prstGeom prst="rect">
            <a:avLst/>
          </a:prstGeom>
          <a:noFill/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2251" y="3694176"/>
            <a:ext cx="19952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6B6D4"/>
                </a:solidFill>
              </a:rPr>
              <a:t>MINESAFE 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2251" y="3904488"/>
            <a:ext cx="19952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6B6D4"/>
                </a:solidFill>
              </a:rPr>
              <a:t>ESG dashboard, dust, water, runoff, land rehabilitation, sustainability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Command Center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Every alert. Every worker. Every risk. One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AI-generated aerial mine map with live overlays — drones, workers, risk zones, sensor readings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Triaged alert panel: AI assigns severity, zone, and recommended action in  1 second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8 real-time KPIs: workers, drones, sensors, critical alerts, risk score, fatigue, PPE, evacuation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Scenario simulation: trigger Gas Leak, Heat Stress, Slope Crack, Vehicle Proximity, or Sustainability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&lt; 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Alert-to-response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Drone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Aerial surveillance and slope crack detection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6 autonomous drones (Eagle-1 to Eagle-6) with live telemetry: battery, altitude, speed, zone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Eagle-2 currently monitoring north slope crack — confidence 84%, second drone dispatched for confirmation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Thermal imaging for hotspot and gas cloud detection across all pit faces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AI path planning optimises coverage across all 9 operational zones simultaneously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Drones active in flight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minesafe.iraw.one/#/drone-monitoring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Ground Sensor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89 sensors — gas, dust, temperature, vibration across 9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89 sensors monitoring CH4, CO, H2S, SO2, PM2.5, PM10, temperature, humidity, and vibration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GS-11: CH4 8.4 ppm at Fuel Zone 8 — AI predicts threshold breach within 2 hours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GS-08: PM2.5 58.4 ug/m3 — approaching environmental regulatory limit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Zone-level heatmap with live readings; configurable alert thresholds per sensor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Ground sensors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minesafe.iraw.one/#/ground-sensors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Worker Health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247 wearables — every worker monitored continuously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247 workers monitored across 9 zones: heart rate, SpO2, body temp, fatigue score, fall detection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W004: heat stress risk — fatigue 78, HR 128 bpm; intervention recommended within 15 minutes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W010: fall detected — no movement for 90 seconds; rescue team dispatched with live GPS routing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47 consecutive incident-free days — best performance in this site's recorded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Workers monitored in real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minesafe.iraw.one/#/worker-health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Equipment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8 heavy machines — predictive maintenance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8 machines: ZX870 excavators, HD785 haul trucks, A60H articulated dumpers tracked 24/7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EQ08: engine temp 103C — critical alert; failure predicted within 10 hours without intervention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Predictive maintenance ML models forecast failures 24–72 hours ahead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Proximity alerts warn operators when vehicles approach worker exclusion 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Heavy machines monitored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minesafe.iraw.one/#/equipment-safety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Fleet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Real-time vehicle tracking and route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Live GPS tracking of all vehicles: position, speed, heading, and zone assignment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Operator licence and safety training compliance — expiry alerts sent 90 days in advance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AI-optimised haul routes reduce fuel consumption by 12% and cut idle time by 18%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Proximity alert system: vehicle-to-vehicle and vehicle-to-worker collision prevention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Fuel savings via AI route optimisation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minesafe.iraw.one/#/fleet-management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AI Prediction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Detect risk before it becomes an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ML models for gas accumulation, equipment failure, worker fatigue, slope stability, noise, route deviation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Each prediction shows confidence score, time-to-event, and top contributing sensor factors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Explainable AI: every recommendation includes the reasoning chain — no black box decisions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What-if simulation: test intervention actions and see simulated risk reduction before acting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Maximum prediction confidence (Gas Safety Model)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minesafe.iraw.one/#/ai-prediction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Incident &amp; Environmental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From detection to resolution in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Automated incident workflow: Alert → Verify → Assign → Escalate → Resolve → Review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AI evacuation route planner: calculates safest path in real time based on active hazards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Rescue team dispatch: GPS-tracked responders reach any zone within 8 minutes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Full audit trail — every AI decision logged with timestamp for post-incident compliance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&lt; 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Rescue team response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minesafe.iraw.one/#/incident-response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Sustainability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AI safety systems are sustainability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Carbon intensity 18.4 kg CO2e/t — down 4.2% YoY via AI route and process optimisation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Water recycling 76% — AI identifies processing bottlenecks pushing toward 85% target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Land rehabilitation 64% complete — drone monitoring tracks revegetation progress weekly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SDG 3, 8, 9, 12, 13, 15 and 16 actively tracked; ESG readiness score 87%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ESG Compliance Readiness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</a:rPr>
              <a:t>Noise Exposure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Preventing noise-induced hearing loss with AI and wearables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64 workers monitored for noise dose in real time using wearable dosimeters and zone beacons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6 workers currently above the 85 dBA 8-hour action level — rotation and PPE alerts issued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AI anomaly detection: Crusher C2 bearing noise pattern changed (78% conf.) — inspection scheduled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Hierarchy-of-controls recommendations generated automatically from sensor and dose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40"/>
            <a:ext cx="5029200" cy="10972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977640"/>
            <a:ext cx="502920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1422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Hearing PPE compliance — verified in high-noise zones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548640"/>
            <a:ext cx="5852160" cy="53035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548640"/>
            <a:ext cx="5852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0" y="6583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621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0B981"/>
                </a:solidFill>
              </a:rPr>
              <a:t>LIVE DASHBOARD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minesafe.iraw.one/#/noise-exposure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Visit the live dashboard for a real-time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Business Value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Safer workers. Lower impact. Better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371600" cy="12700"/>
          </a:xfrm>
          <a:prstGeom prst="rect">
            <a:avLst/>
          </a:prstGeom>
          <a:noFill/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34% reduction in safety incidents year-on-year across all monitored zones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12% reduction in fleet fuel consumption via AI-optimised haul routes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280 kWh saved per night via smart ventilation scheduling in underground zones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$2.4M estimated annual savings from predictive maintenance alone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▸  ESG readiness score of 87% — enabling investor-grade sustainability disclosure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685800"/>
            <a:ext cx="5577840" cy="141732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685800"/>
            <a:ext cx="557784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85039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$2.4M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Estimated annual savings — predictive maintenance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✨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1F5F9"/>
                </a:solidFill>
              </a:rPr>
              <a:t>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926080"/>
            <a:ext cx="2651760" cy="12700"/>
          </a:xfrm>
          <a:prstGeom prst="rect">
            <a:avLst/>
          </a:prstGeom>
          <a:noFill/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MineSafe demonstrates how AI can move industrial safety from reactive response to predictive prevention. The system connects data, explains risk, recommends action, and supports safer, more sustainable mining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10B981"/>
                </a:solidFill>
              </a:rPr>
              <a:t>"The goal is not to replace human judgment, but to give safety teams earlier, clearer, and more actionable intelligence."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🎓  HITSZ — AI for Sustainable Development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1F5F9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46120"/>
            <a:ext cx="3931920" cy="12700"/>
          </a:xfrm>
          <a:prstGeom prst="rect">
            <a:avLst/>
          </a:prstGeom>
          <a:noFill/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Harbin Institute of Technology, Shenzhen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" y="4069080"/>
            <a:ext cx="2468880" cy="411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Harta Deddy Irawan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4156" y="4069080"/>
            <a:ext cx="2468880" cy="411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5596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Sashi Kumar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4069080"/>
            <a:ext cx="2468880" cy="411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7356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Isabella Gbefa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37676" y="4069080"/>
            <a:ext cx="2468880" cy="411480"/>
          </a:xfrm>
          <a:prstGeom prst="rect">
            <a:avLst/>
          </a:prstGeom>
          <a:solidFill>
            <a:srgbClr val="19203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9116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Shania Clauren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754880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MineSafe AI System · AI-Driven Mining Safety &amp; Sustainability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B82F6"/>
                </a:solidFill>
              </a:rPr>
              <a:t>CLOSING CEREMONY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772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1F5F9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AI for Sustainable Development — HITSZ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40280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From data, safety, and sustainability to smarter mining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697480"/>
            <a:ext cx="7955279" cy="3246120"/>
          </a:xfrm>
          <a:prstGeom prst="rect">
            <a:avLst/>
          </a:prstGeom>
          <a:solidFill>
            <a:srgbClr val="04091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3559" y="35890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1" y="37901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1F5F9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1663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Watch Team Memory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68112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♪ See You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17220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569"/>
                </a:solidFill>
              </a:rPr>
              <a:t>MineSafe AI System · HITSZ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94360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B82F6"/>
                </a:solidFill>
              </a:rPr>
              <a:t>↓  Full video download available at the live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